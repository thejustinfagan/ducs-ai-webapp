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DUCs.ai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ADCFC"/>
                </a:solidFill>
              </a:defRPr>
            </a:pPr>
            <a:r>
              <a:t>Go-to-Market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FFFFFF"/>
                </a:solidFill>
              </a:defRPr>
            </a:pPr>
            <a:r>
              <a:t>Find your next 10 franchisees in 10 minutes, not 10 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ADCFC"/>
                </a:solidFill>
              </a:defRPr>
            </a:pPr>
            <a:r>
              <a:t>July 10, 2026 | Justin Fagan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The Opportunity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320040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📊 Total Addressable Market</a:t>
            </a:r>
          </a:p>
          <a:p>
            <a:br/>
            <a:pPr>
              <a:defRPr sz="1400" b="1">
                <a:solidFill>
                  <a:srgbClr val="1E2761"/>
                </a:solidFill>
              </a:defRPr>
            </a:pPr>
            <a:r>
              <a:t>18,700 target accounts</a:t>
            </a:r>
          </a:p>
          <a:p>
            <a:pPr>
              <a:defRPr sz="1200">
                <a:solidFill>
                  <a:srgbClr val="36454F"/>
                </a:solidFill>
              </a:defRPr>
            </a:pPr>
            <a:r>
              <a:t>• 2,500 franchise brands (50-500 units)</a:t>
            </a:r>
          </a:p>
          <a:p>
            <a:pPr>
              <a:defRPr sz="1200">
                <a:solidFill>
                  <a:srgbClr val="36454F"/>
                </a:solidFill>
              </a:defRPr>
            </a:pPr>
            <a:r>
              <a:t>• 15,000 CRE brokers</a:t>
            </a:r>
          </a:p>
          <a:p>
            <a:pPr>
              <a:defRPr sz="1200">
                <a:solidFill>
                  <a:srgbClr val="36454F"/>
                </a:solidFill>
              </a:defRPr>
            </a:pPr>
            <a:r>
              <a:t>• 1,200 franchise law firms</a:t>
            </a:r>
          </a:p>
          <a:p>
            <a:br/>
            <a:pPr>
              <a:defRPr sz="1800" b="1">
                <a:solidFill>
                  <a:srgbClr val="1E2761"/>
                </a:solidFill>
              </a:defRPr>
            </a:pPr>
            <a:r>
              <a:t>$4.2M/year TAM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371600"/>
            <a:ext cx="2560320" cy="3200400"/>
          </a:xfrm>
          <a:prstGeom prst="roundRect">
            <a:avLst/>
          </a:prstGeom>
          <a:solidFill>
            <a:srgbClr val="FA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96167"/>
                </a:solidFill>
              </a:defRPr>
            </a:pPr>
            <a:r>
              <a:t>❌ Current Solutions Fail</a:t>
            </a:r>
          </a:p>
          <a:p>
            <a:br/>
            <a:pPr>
              <a:defRPr sz="1200">
                <a:solidFill>
                  <a:srgbClr val="36454F"/>
                </a:solidFill>
              </a:defRPr>
            </a:pPr>
            <a:r>
              <a:t>• LinkedIn: Generic B2B, $100/mo</a:t>
            </a:r>
          </a:p>
          <a:p>
            <a:pPr>
              <a:defRPr sz="1200">
                <a:solidFill>
                  <a:srgbClr val="36454F"/>
                </a:solidFill>
              </a:defRPr>
            </a:pPr>
            <a:r>
              <a:t>• CoStar: $5K/yr, poor contact data</a:t>
            </a:r>
          </a:p>
          <a:p>
            <a:pPr>
              <a:defRPr sz="1200">
                <a:solidFill>
                  <a:srgbClr val="36454F"/>
                </a:solidFill>
              </a:defRPr>
            </a:pPr>
            <a:r>
              <a:t>• Purchased lists: 40% bounce rate</a:t>
            </a:r>
          </a:p>
          <a:p>
            <a:pPr>
              <a:defRPr sz="1200">
                <a:solidFill>
                  <a:srgbClr val="36454F"/>
                </a:solidFill>
              </a:defRPr>
            </a:pPr>
            <a:r>
              <a:t>• Manual research: 20 hrs/week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2560320" cy="32004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✅ DUCs.ai Advantage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27,709 contacts (live FDD data)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1,438 direct outreach (validated)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71% email valid, 33% phone valid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$49/mo (1/10th enterprise cost)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</a:defRPr>
            </a:pPr>
            <a:r>
              <a:t>Target Customers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8229600" cy="164592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2761"/>
                </a:solidFill>
              </a:defRPr>
            </a:pPr>
            <a:r>
              <a:t>🎯 PRIMARY: Franchise Development Director</a:t>
            </a:r>
          </a:p>
          <a:p>
            <a:pPr>
              <a:defRPr sz="1200">
                <a:solidFill>
                  <a:srgbClr val="36454F"/>
                </a:solidFill>
              </a:defRPr>
            </a:pPr>
            <a:r>
              <a:t>Emerging brands (50-500 units) | Budget: $500-2,000/mo | Goal: Sign 15-20 franchisees/year</a:t>
            </a:r>
          </a:p>
          <a:p>
            <a:pPr>
              <a:defRPr sz="1100">
                <a:solidFill>
                  <a:srgbClr val="36454F"/>
                </a:solidFill>
              </a:defRPr>
            </a:pPr>
            <a:r>
              <a:t>Pain: Stale lead lists ($5K+, 40% bounce), manual LinkedIn prospecting (20 hrs/wk), can't verify contacts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108960"/>
            <a:ext cx="8229600" cy="1645920"/>
          </a:xfrm>
          <a:prstGeom prst="round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2761"/>
                </a:solidFill>
              </a:defRPr>
            </a:pPr>
            <a:r>
              <a:t>🎯 SECONDARY: CRE Broker</a:t>
            </a:r>
          </a:p>
          <a:p>
            <a:pPr>
              <a:defRPr sz="1200">
                <a:solidFill>
                  <a:srgbClr val="36454F"/>
                </a:solidFill>
              </a:defRPr>
            </a:pPr>
            <a:r>
              <a:t>Independent/regional | Budget: $200-500/mo | Goal: Close $20M in transactions</a:t>
            </a:r>
          </a:p>
          <a:p>
            <a:pPr>
              <a:defRPr sz="1100">
                <a:solidFill>
                  <a:srgbClr val="36454F"/>
                </a:solidFill>
              </a:defRPr>
            </a:pPr>
            <a:r>
              <a:t>Pain: CoStar contact data is garbage, can't find off-market property owners, manual county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937760"/>
            <a:ext cx="8229600" cy="146304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2761"/>
                </a:solidFill>
              </a:defRPr>
            </a:pPr>
            <a:r>
              <a:t>🎯 TERTIARY: Franchise Attorney</a:t>
            </a:r>
          </a:p>
          <a:p>
            <a:pPr>
              <a:defRPr sz="1200">
                <a:solidFill>
                  <a:srgbClr val="36454F"/>
                </a:solidFill>
              </a:defRPr>
            </a:pPr>
            <a:r>
              <a:t>Regional law firms | Budget: $100-300/mo | Goal: Reduce client onboarding time by 80%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Competitive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Competitor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18872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E2761"/>
                </a:solidFill>
              </a:defRPr>
            </a:pPr>
            <a:r>
              <a:t>Price/mo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887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6454F"/>
                </a:solidFill>
              </a:defRPr>
            </a:pPr>
            <a:r>
              <a:t>Weakness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18872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DUCs 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6454F"/>
                </a:solidFill>
              </a:defRPr>
            </a:pPr>
            <a:r>
              <a:t>LinkedIn Sales Nav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82880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96167"/>
                </a:solidFill>
              </a:defRPr>
            </a:pPr>
            <a:r>
              <a:t>$100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8288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6454F"/>
                </a:solidFill>
              </a:defRPr>
            </a:pPr>
            <a:r>
              <a:t>Generic B2B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828800"/>
            <a:ext cx="3200400" cy="6400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182880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Niche focus, 1/2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6454F"/>
                </a:solidFill>
              </a:defRPr>
            </a:pPr>
            <a:r>
              <a:t>CoStar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46888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96167"/>
                </a:solidFill>
              </a:defRPr>
            </a:pPr>
            <a:r>
              <a:t>$5,000+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468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6454F"/>
                </a:solidFill>
              </a:defRPr>
            </a:pPr>
            <a:r>
              <a:t>Poor contact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2468880"/>
            <a:ext cx="3200400" cy="6400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24688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Contact-first, 1% of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0896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6454F"/>
                </a:solidFill>
              </a:defRPr>
            </a:pPr>
            <a:r>
              <a:t>ZoomInfo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10896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96167"/>
                </a:solidFill>
              </a:defRPr>
            </a:pPr>
            <a:r>
              <a:t>$1,250+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1089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6454F"/>
                </a:solidFill>
              </a:defRPr>
            </a:pPr>
            <a:r>
              <a:t>Overkill, stale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3108960"/>
            <a:ext cx="3200400" cy="6400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310896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Affordable, fresh FDD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49040"/>
            <a:ext cx="1645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36454F"/>
                </a:solidFill>
              </a:defRPr>
            </a:pPr>
            <a:r>
              <a:t>Loopnet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74904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96167"/>
                </a:solidFill>
              </a:defRPr>
            </a:pPr>
            <a:r>
              <a:t>$300+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7490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6454F"/>
                </a:solidFill>
              </a:defRPr>
            </a:pPr>
            <a:r>
              <a:t>Discovery only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3749040"/>
            <a:ext cx="3200400" cy="6400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374904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Built for outreach campaigns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90-Day Go-to-Market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155448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📍 Phase 1: Outbound Dominance (Days 1-30)</a:t>
            </a:r>
          </a:p>
          <a:p>
            <a:pPr>
              <a:defRPr sz="1200">
                <a:solidFill>
                  <a:srgbClr val="36454F"/>
                </a:solidFill>
              </a:defRPr>
            </a:pPr>
            <a:r>
              <a:t>Goal: 12 paying customers | Budget: $302/mo</a:t>
            </a:r>
          </a:p>
          <a:p>
            <a:pPr>
              <a:defRPr sz="1100">
                <a:solidFill>
                  <a:srgbClr val="36454F"/>
                </a:solidFill>
              </a:defRPr>
            </a:pPr>
            <a:r>
              <a:t>• Tier 1 Blitz: 426 contacts, 3-email sequence (35% open, 7% reply)</a:t>
            </a:r>
          </a:p>
          <a:p>
            <a:pPr>
              <a:defRPr sz="1100">
                <a:solidFill>
                  <a:srgbClr val="36454F"/>
                </a:solidFill>
              </a:defRPr>
            </a:pPr>
            <a:r>
              <a:t>• LinkedIn: 500 connection requests, DM sequence</a:t>
            </a:r>
          </a:p>
          <a:p>
            <a:pPr>
              <a:defRPr sz="1100">
                <a:solidFill>
                  <a:srgbClr val="36454F"/>
                </a:solidFill>
              </a:defRPr>
            </a:pPr>
            <a:r>
              <a:t>• CRE Broker: Email + postcard campaign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8229600" cy="1554480"/>
          </a:xfrm>
          <a:prstGeom prst="round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📍 Phase 2: Product-Led Growth (Days 31-60)</a:t>
            </a:r>
          </a:p>
          <a:p>
            <a:pPr>
              <a:defRPr sz="1200">
                <a:solidFill>
                  <a:srgbClr val="36454F"/>
                </a:solidFill>
              </a:defRPr>
            </a:pPr>
            <a:r>
              <a:t>Goal: 25 trial signups/week | Budget: $400/mo</a:t>
            </a:r>
          </a:p>
          <a:p>
            <a:pPr>
              <a:defRPr sz="1100">
                <a:solidFill>
                  <a:srgbClr val="36454F"/>
                </a:solidFill>
              </a:defRPr>
            </a:pPr>
            <a:r>
              <a:t>• Free Tier Launch: 100 searches/mo, convert at 20%</a:t>
            </a:r>
          </a:p>
          <a:p>
            <a:pPr>
              <a:defRPr sz="1100">
                <a:solidFill>
                  <a:srgbClr val="36454F"/>
                </a:solidFill>
              </a:defRPr>
            </a:pPr>
            <a:r>
              <a:t>• SEO Content: 4 pillar posts (2,000-3,500 words each)</a:t>
            </a:r>
          </a:p>
          <a:p>
            <a:pPr>
              <a:defRPr sz="1100">
                <a:solidFill>
                  <a:srgbClr val="36454F"/>
                </a:solidFill>
              </a:defRPr>
            </a:pPr>
            <a:r>
              <a:t>• Referral Program: "Give 1 month, get 1 month"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663440"/>
            <a:ext cx="8229600" cy="14630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📍 Phase 3: Partnership Scaling (Days 61-90)</a:t>
            </a:r>
          </a:p>
          <a:p>
            <a:pPr>
              <a:defRPr sz="1200">
                <a:solidFill>
                  <a:srgbClr val="36454F"/>
                </a:solidFill>
              </a:defRPr>
            </a:pPr>
            <a:r>
              <a:t>Goal: 3 partners, 20% revenue from partners | Budget: $800/mo</a:t>
            </a:r>
          </a:p>
          <a:p>
            <a:pPr>
              <a:defRPr sz="1100">
                <a:solidFill>
                  <a:srgbClr val="36454F"/>
                </a:solidFill>
              </a:defRPr>
            </a:pPr>
            <a:r>
              <a:t>• Franchise Consultancies: White-label, 20% rev share</a:t>
            </a:r>
          </a:p>
          <a:p>
            <a:pPr>
              <a:defRPr sz="1100">
                <a:solidFill>
                  <a:srgbClr val="36454F"/>
                </a:solidFill>
              </a:defRPr>
            </a:pPr>
            <a:r>
              <a:t>• CRE Tech Platforms: API integration, licensing</a:t>
            </a:r>
          </a:p>
          <a:p>
            <a:pPr>
              <a:defRPr sz="1100">
                <a:solidFill>
                  <a:srgbClr val="36454F"/>
                </a:solidFill>
              </a:defRPr>
            </a:pPr>
            <a:r>
              <a:t>• Paid Ads Test: LinkedIn + Google ($500)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90-Day Financial Projections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840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2761"/>
                </a:solidFill>
              </a:defRPr>
            </a:pPr>
            <a:r>
              <a:t>📊 Conservative Scenario</a:t>
            </a:r>
          </a:p>
          <a:p>
            <a:br/>
            <a:pPr>
              <a:defRPr sz="1300">
                <a:solidFill>
                  <a:srgbClr val="36454F"/>
                </a:solidFill>
              </a:defRPr>
            </a:pPr>
            <a:r>
              <a:t>Month 1: 10 customers, $490 MRR</a:t>
            </a:r>
          </a:p>
          <a:p>
            <a:pPr>
              <a:defRPr sz="1300">
                <a:solidFill>
                  <a:srgbClr val="36454F"/>
                </a:solidFill>
              </a:defRPr>
            </a:pPr>
            <a:r>
              <a:t>Month 2: 23 customers, $1,127 MRR</a:t>
            </a:r>
          </a:p>
          <a:p>
            <a:pPr>
              <a:defRPr sz="1300">
                <a:solidFill>
                  <a:srgbClr val="36454F"/>
                </a:solidFill>
              </a:defRPr>
            </a:pPr>
            <a:r>
              <a:t>Month 3: 44 customers, $2,156 MRR</a:t>
            </a:r>
          </a:p>
          <a:p>
            <a:br/>
            <a:pPr>
              <a:defRPr sz="1500" b="1">
                <a:solidFill>
                  <a:srgbClr val="1E2761"/>
                </a:solidFill>
              </a:defRPr>
            </a:pPr>
            <a:r>
              <a:t>Q2 Total: $11,200 revenue</a:t>
            </a:r>
          </a:p>
          <a:p>
            <a:pPr>
              <a:defRPr sz="1300">
                <a:solidFill>
                  <a:srgbClr val="36454F"/>
                </a:solidFill>
              </a:defRPr>
            </a:pPr>
            <a:r>
              <a:t>Ending ARR: $25,872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1188720"/>
            <a:ext cx="3840480" cy="320040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2761"/>
                </a:solidFill>
              </a:defRPr>
            </a:pPr>
            <a:r>
              <a:t>🚀 Aggressive Scenario (2x Conversion)</a:t>
            </a:r>
          </a:p>
          <a:p>
            <a:br/>
            <a:pPr>
              <a:defRPr sz="1300">
                <a:solidFill>
                  <a:srgbClr val="36454F"/>
                </a:solidFill>
              </a:defRPr>
            </a:pPr>
            <a:r>
              <a:t>Month 1: 20 customers, $980 MRR</a:t>
            </a:r>
          </a:p>
          <a:p>
            <a:pPr>
              <a:defRPr sz="1300">
                <a:solidFill>
                  <a:srgbClr val="36454F"/>
                </a:solidFill>
              </a:defRPr>
            </a:pPr>
            <a:r>
              <a:t>Month 2: 47 customers, $2,303 MRR</a:t>
            </a:r>
          </a:p>
          <a:p>
            <a:pPr>
              <a:defRPr sz="1300">
                <a:solidFill>
                  <a:srgbClr val="36454F"/>
                </a:solidFill>
              </a:defRPr>
            </a:pPr>
            <a:r>
              <a:t>Month 3: 91 customers, $4,459 MRR</a:t>
            </a:r>
          </a:p>
          <a:p>
            <a:br/>
            <a:pPr>
              <a:defRPr sz="1500" b="1">
                <a:solidFill>
                  <a:srgbClr val="1E2761"/>
                </a:solidFill>
              </a:defRPr>
            </a:pPr>
            <a:r>
              <a:t>Q2 Total: $23,000 revenue</a:t>
            </a:r>
          </a:p>
          <a:p>
            <a:pPr>
              <a:defRPr sz="1300">
                <a:solidFill>
                  <a:srgbClr val="36454F"/>
                </a:solidFill>
              </a:defRPr>
            </a:pPr>
            <a:r>
              <a:t>Ending ARR: $53,508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6344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💰 Unit Economics: CAC $38 | LTV $588 | LTV:CAC 15.5:1 (Industry benchmark: 3:1)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Day 1 Checklist (Start Tomorrow)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8229600" cy="1737360"/>
          </a:xfrm>
          <a:prstGeom prst="round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☀️ Morning (2 hours)</a:t>
            </a:r>
          </a:p>
          <a:p>
            <a:pPr>
              <a:spcBef>
                <a:spcPts val="400"/>
              </a:spcBef>
              <a:defRPr sz="1100">
                <a:solidFill>
                  <a:srgbClr val="36454F"/>
                </a:solidFill>
              </a:defRPr>
            </a:pPr>
            <a:r>
              <a:t>✓ Export Tier 1 list (426 contacts) from DUCs dashboard</a:t>
            </a:r>
          </a:p>
          <a:p>
            <a:pPr>
              <a:spcBef>
                <a:spcPts val="400"/>
              </a:spcBef>
              <a:defRPr sz="1100">
                <a:solidFill>
                  <a:srgbClr val="36454F"/>
                </a:solidFill>
              </a:defRPr>
            </a:pPr>
            <a:r>
              <a:t>✓ Purchase 3 domains: tryducs.com, getducs.io, ducsdata.com ($45)</a:t>
            </a:r>
          </a:p>
          <a:p>
            <a:pPr>
              <a:spcBef>
                <a:spcPts val="400"/>
              </a:spcBef>
              <a:defRPr sz="1100">
                <a:solidFill>
                  <a:srgbClr val="36454F"/>
                </a:solidFill>
              </a:defRPr>
            </a:pPr>
            <a:r>
              <a:t>✓ Setup Google Workspace (3 users, $36/mo)</a:t>
            </a:r>
          </a:p>
          <a:p>
            <a:pPr>
              <a:spcBef>
                <a:spcPts val="400"/>
              </a:spcBef>
              <a:defRPr sz="1100">
                <a:solidFill>
                  <a:srgbClr val="36454F"/>
                </a:solidFill>
              </a:defRPr>
            </a:pPr>
            <a:r>
              <a:t>✓ Sign up for Instantly.ai (Starter plan, $97/mo)</a:t>
            </a:r>
          </a:p>
          <a:p>
            <a:pPr>
              <a:spcBef>
                <a:spcPts val="400"/>
              </a:spcBef>
              <a:defRPr sz="1100">
                <a:solidFill>
                  <a:srgbClr val="36454F"/>
                </a:solidFill>
              </a:defRPr>
            </a:pPr>
            <a:r>
              <a:t>✓ Connect domains, configure SPF/DKIM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108960"/>
            <a:ext cx="8229600" cy="173736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🌤️ Afternoon (3 hours)</a:t>
            </a:r>
          </a:p>
          <a:p>
            <a:pPr>
              <a:spcBef>
                <a:spcPts val="400"/>
              </a:spcBef>
              <a:defRPr sz="1100">
                <a:solidFill>
                  <a:srgbClr val="36454F"/>
                </a:solidFill>
              </a:defRPr>
            </a:pPr>
            <a:r>
              <a:t>✓ Draft Email #1, #2, #3 (use templates, customize with markets)</a:t>
            </a:r>
          </a:p>
          <a:p>
            <a:pPr>
              <a:spcBef>
                <a:spcPts val="400"/>
              </a:spcBef>
              <a:defRPr sz="1100">
                <a:solidFill>
                  <a:srgbClr val="36454F"/>
                </a:solidFill>
              </a:defRPr>
            </a:pPr>
            <a:r>
              <a:t>✓ Import Tier 1 list to Instantly, map fields</a:t>
            </a:r>
          </a:p>
          <a:p>
            <a:pPr>
              <a:spcBef>
                <a:spcPts val="400"/>
              </a:spcBef>
              <a:defRPr sz="1100">
                <a:solidFill>
                  <a:srgbClr val="36454F"/>
                </a:solidFill>
              </a:defRPr>
            </a:pPr>
            <a:r>
              <a:t>✓ Setup email sequence (Day 1, 3, 5, 7)</a:t>
            </a:r>
          </a:p>
          <a:p>
            <a:pPr>
              <a:spcBef>
                <a:spcPts val="400"/>
              </a:spcBef>
              <a:defRPr sz="1100">
                <a:solidFill>
                  <a:srgbClr val="36454F"/>
                </a:solidFill>
              </a:defRPr>
            </a:pPr>
            <a:r>
              <a:t>✓ Create landing page: ducs.ai/franchise-developers (Carrd.co)</a:t>
            </a:r>
          </a:p>
          <a:p>
            <a:pPr>
              <a:spcBef>
                <a:spcPts val="400"/>
              </a:spcBef>
              <a:defRPr sz="1100">
                <a:solidFill>
                  <a:srgbClr val="36454F"/>
                </a:solidFill>
              </a:defRPr>
            </a:pPr>
            <a:r>
              <a:t>✓ Block calendar: 2 hrs/day (Days 3-7) for reply handling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029200"/>
            <a:ext cx="8229600" cy="118872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2761"/>
                </a:solidFill>
              </a:defRPr>
            </a:pPr>
            <a:r>
              <a:t>🌙 Evening (1 hour)</a:t>
            </a:r>
          </a:p>
          <a:p>
            <a:pPr>
              <a:spcBef>
                <a:spcPts val="400"/>
              </a:spcBef>
              <a:defRPr sz="1100">
                <a:solidFill>
                  <a:srgbClr val="36454F"/>
                </a:solidFill>
              </a:defRPr>
            </a:pPr>
            <a:r>
              <a:t>✓ Draft 5 LinkedIn posts (schedule for Week 2)</a:t>
            </a:r>
          </a:p>
          <a:p>
            <a:pPr>
              <a:spcBef>
                <a:spcPts val="400"/>
              </a:spcBef>
              <a:defRPr sz="1100">
                <a:solidFill>
                  <a:srgbClr val="36454F"/>
                </a:solidFill>
              </a:defRPr>
            </a:pPr>
            <a:r>
              <a:t>✓ Prepare response templates for common objections</a:t>
            </a:r>
          </a:p>
          <a:p>
            <a:pPr>
              <a:spcBef>
                <a:spcPts val="400"/>
              </a:spcBef>
              <a:defRPr sz="1100">
                <a:solidFill>
                  <a:srgbClr val="36454F"/>
                </a:solidFill>
              </a:defRPr>
            </a:pPr>
            <a:r>
              <a:t>✓ Send first 20 emails (test domain reputation)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F96167"/>
                </a:solidFill>
              </a:defRPr>
            </a:pPr>
            <a:r>
              <a:t>426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Prime Contacts Ready for Outreach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ADCFC"/>
                </a:solidFill>
              </a:defRPr>
            </a:pPr>
            <a:r>
              <a:t>🎯 Goal: 50 customers, $2,156 MRR by October 10</a:t>
            </a:r>
          </a:p>
          <a:p>
            <a:br/>
            <a:pPr algn="ctr">
              <a:defRPr sz="1600">
                <a:solidFill>
                  <a:srgbClr val="FFFFFF"/>
                </a:solidFill>
              </a:defRPr>
            </a:pPr>
            <a:r>
              <a:t>📧 Launch Tier 1 Blitz tomorrow (20 emails Day 1)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📊 Track: 30%+ open rate, 7%+ reply rate, 10+ demos/week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CADCFC"/>
                </a:solidFill>
              </a:defRPr>
            </a:pPr>
            <a:r>
              <a:t>DUCs.ai Go-to-Market Strategy |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